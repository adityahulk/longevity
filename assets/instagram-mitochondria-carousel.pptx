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875520" cy="9875520"/>
  <p:notesSz cx="987552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875520"/>
          </a:xfrm>
          <a:prstGeom prst="rect">
            <a:avLst/>
          </a:prstGeom>
          <a:solidFill>
            <a:srgbClr val="B85426"/>
          </a:solidFill>
          <a:ln w="12700">
            <a:solidFill>
              <a:srgbClr val="B85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754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SCIENCE  ·  FIELD NOTES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869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antioxidant</a:t>
            </a:r>
            <a:endParaRPr lang="en-US" sz="6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solving</a:t>
            </a:r>
            <a:endParaRPr lang="en-US" sz="6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problem.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Nature study of 750,000 people just rewrote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understand aging.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8778240"/>
            <a:ext cx="9875520" cy="822960"/>
          </a:xfrm>
          <a:prstGeom prst="rect">
            <a:avLst/>
          </a:prstGeom>
          <a:solidFill>
            <a:srgbClr val="B85426"/>
          </a:solidFill>
          <a:ln w="12700">
            <a:solidFill>
              <a:srgbClr val="B85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796528"/>
            <a:ext cx="9144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find out what actually happens 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EVERYONE BELIEVED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961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cells were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rusting from the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443484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mitochondrial theory said: energy production creates toxic exhaust (ROS), which damages your mitochondrial DNA, which drives aging. Clean, intuitive — and the foundation of a multi-billion dollar antioxidant industry.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783080" cy="804672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68880" y="6492240"/>
            <a:ext cx="1783080" cy="804672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64922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6492240"/>
            <a:ext cx="1783080" cy="804672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64922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mtDNA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6492240"/>
            <a:ext cx="1783080" cy="804672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64922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68945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1960" y="68945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68945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7635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beautiful. It's also incomplete.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E1B2C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6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875520" cy="128016"/>
          </a:xfrm>
          <a:prstGeom prst="rect">
            <a:avLst/>
          </a:prstGeom>
          <a:solidFill>
            <a:srgbClr val="B85426"/>
          </a:solidFill>
          <a:ln w="12700">
            <a:solidFill>
              <a:srgbClr val="B85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2062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ET AL.  ·  NATURE,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961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736,038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largest mitochondrial genetics studies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run.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5F1E8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sequenced whole genomes from the UK Biobank + All of Us cohorts, looking for the oxidative fingerprints the classic theory predicted.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8705088"/>
            <a:ext cx="9875520" cy="896112"/>
          </a:xfrm>
          <a:prstGeom prst="rect">
            <a:avLst/>
          </a:prstGeom>
          <a:solidFill>
            <a:srgbClr val="D17244"/>
          </a:solidFill>
          <a:ln w="12700">
            <a:solidFill>
              <a:srgbClr val="D17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723376"/>
            <a:ext cx="8961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found was completely different.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961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rust.</a:t>
            </a:r>
            <a:endParaRPr lang="en-US" sz="7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Typos.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mutations didn't match oxidative damage signatures at all. They matched the pattern of random copy-paste errors — made when DNA replicates, not when it gets attacked by free radicals.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0"/>
            <a:ext cx="4206240" cy="2834640"/>
          </a:xfrm>
          <a:prstGeom prst="rect">
            <a:avLst/>
          </a:prstGeom>
          <a:solidFill>
            <a:srgbClr val="FAE8E3"/>
          </a:solidFill>
          <a:ln w="12700">
            <a:solidFill>
              <a:srgbClr val="E8B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23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Oxidative damage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(C&gt;A transversions)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12080" y="5486400"/>
            <a:ext cx="4206240" cy="2834640"/>
          </a:xfrm>
          <a:prstGeom prst="rect">
            <a:avLst/>
          </a:prstGeom>
          <a:solidFill>
            <a:srgbClr val="E3EEE7"/>
          </a:solidFill>
          <a:ln w="12700">
            <a:solidFill>
              <a:srgbClr val="A8C9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5623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E7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6035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error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(C&gt;T transitions)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84856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found the exact opposite of what the theory predicted.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E1B2C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6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961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don't</a:t>
            </a:r>
            <a:endParaRPr lang="en-US" sz="5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up slowly.</a:t>
            </a:r>
            <a:endParaRPr lang="en-US" sz="5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explode at 60.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5F1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aging were steady daily wear-and-tear, mutations would rise linearly. Instead they stay modest all your life — then shoot off a cliff around age 60.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6126480"/>
            <a:ext cx="0" cy="2194560"/>
          </a:xfrm>
          <a:prstGeom prst="line">
            <a:avLst/>
          </a:prstGeom>
          <a:noFill/>
          <a:ln w="19050">
            <a:solidFill>
              <a:srgbClr val="F5F1E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8321040"/>
            <a:ext cx="8046720" cy="0"/>
          </a:xfrm>
          <a:prstGeom prst="line">
            <a:avLst/>
          </a:prstGeom>
          <a:noFill/>
          <a:ln w="19050">
            <a:solidFill>
              <a:srgbClr val="F5F1E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8046720"/>
            <a:ext cx="4937760" cy="0"/>
          </a:xfrm>
          <a:prstGeom prst="line">
            <a:avLst/>
          </a:prstGeom>
          <a:noFill/>
          <a:ln w="38100">
            <a:solidFill>
              <a:srgbClr val="B854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8046720"/>
            <a:ext cx="1645920" cy="-1737360"/>
          </a:xfrm>
          <a:prstGeom prst="line">
            <a:avLst/>
          </a:prstGeom>
          <a:noFill/>
          <a:ln w="38100">
            <a:solidFill>
              <a:srgbClr val="B854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339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8339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321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 rot="16200000">
            <a:off x="109728" y="6126480"/>
            <a:ext cx="731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8732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for the answer  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961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 wins the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race. And copies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typo billions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times.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4617720"/>
            <a:ext cx="8686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marrow stem cells compete to build your blood supply. One mutant cell occasionally gets a survival advantage — it takes over, dragging its tiny DNA typo into billions of descendants.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2560320" cy="182880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7025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70866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typo in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stem cell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35808" y="72237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6537960"/>
            <a:ext cx="2560320" cy="182880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67025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85032" y="70866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cell wins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bone marrow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48" y="72237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0" y="6537960"/>
            <a:ext cx="2560320" cy="182880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67025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48272" y="70866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typo copied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billions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blood cells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86685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age-60 cliff explained.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E1B2C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6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MENTAL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961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isn't rust.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cellular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4160520"/>
            <a:ext cx="4114800" cy="4389120"/>
          </a:xfrm>
          <a:prstGeom prst="rect">
            <a:avLst/>
          </a:prstGeom>
          <a:solidFill>
            <a:srgbClr val="152338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42519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damage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accumulated?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897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cells from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exhaust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995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Mega-dose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03520" y="4160520"/>
            <a:ext cx="4114800" cy="4389120"/>
          </a:xfrm>
          <a:prstGeom prst="rect">
            <a:avLst/>
          </a:prstGeom>
          <a:solidFill>
            <a:srgbClr val="B85426"/>
          </a:solidFill>
          <a:ln w="12700">
            <a:solidFill>
              <a:srgbClr val="B854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0" y="42519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4800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cell clones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taken over?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5897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stem cell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fair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6995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mitophagy,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inflammation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UPDATED LONGEVITY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things worth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differently.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31546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mega-dosing antioxidants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5570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to stop mtDNA typos isn't there.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961120" cy="0"/>
          </a:xfrm>
          <a:prstGeom prst="line">
            <a:avLst/>
          </a:prstGeom>
          <a:noFill/>
          <a:ln w="12700">
            <a:solidFill>
              <a:srgbClr val="EDE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177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mitophagy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50200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HIIT, prolonged fasting, Urolithin A clear broken mitochondria.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623560"/>
            <a:ext cx="8961120" cy="0"/>
          </a:xfrm>
          <a:prstGeom prst="line">
            <a:avLst/>
          </a:prstGeom>
          <a:noFill/>
          <a:ln w="12700">
            <a:solidFill>
              <a:srgbClr val="EDE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0807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97280" y="6080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stem cell environment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648309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Low-glycemic diet, omega-3s, deep sleep reduce inflammation.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7086600"/>
            <a:ext cx="8961120" cy="0"/>
          </a:xfrm>
          <a:prstGeom prst="line">
            <a:avLst/>
          </a:prstGeom>
          <a:noFill/>
          <a:ln w="12700">
            <a:solidFill>
              <a:srgbClr val="EDE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74980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97280" y="74980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actually matters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79004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that reflect metabolic + immune health, not guesswork.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E1B2C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6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9875520"/>
          </a:xfrm>
          <a:prstGeom prst="rect">
            <a:avLst/>
          </a:prstGeom>
          <a:solidFill>
            <a:srgbClr val="B85426"/>
          </a:solidFill>
          <a:ln w="12700">
            <a:solidFill>
              <a:srgbClr val="B85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754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89154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longevity</a:t>
            </a:r>
            <a:endParaRPr lang="en-US" sz="3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about protecting</a:t>
            </a:r>
            <a:endParaRPr lang="en-US" sz="3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cells from everyday</a:t>
            </a:r>
            <a:endParaRPr lang="en-US" sz="3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life. It's about keeping</a:t>
            </a:r>
            <a:endParaRPr lang="en-US" sz="3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internal cellular</a:t>
            </a:r>
            <a:endParaRPr lang="en-US" sz="3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fit, competitive,</a:t>
            </a:r>
            <a:endParaRPr lang="en-US" sz="3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clean.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832104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17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Antiaging Labs Field Notes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70508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Gupta et al., Nature (2026)  ·  link in bio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1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5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BREAKDOWN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961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the full</a:t>
            </a:r>
            <a:endParaRPr lang="en-US" sz="6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7033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4A5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decoded the full study — methodology, what it means for your protocol, and the 3 biomarkers worth tracking now.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394960"/>
            <a:ext cx="8961120" cy="0"/>
          </a:xfrm>
          <a:prstGeom prst="line">
            <a:avLst/>
          </a:prstGeom>
          <a:noFill/>
          <a:ln w="19050">
            <a:solidFill>
              <a:srgbClr val="EDE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60720"/>
            <a:ext cx="9875520" cy="4114800"/>
          </a:xfrm>
          <a:prstGeom prst="rect">
            <a:avLst/>
          </a:prstGeom>
          <a:solidFill>
            <a:srgbClr val="B85426"/>
          </a:solidFill>
          <a:ln w="12700">
            <a:solidFill>
              <a:srgbClr val="B85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1722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antiaging-labs.com/learn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7178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for weekly longevity research,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without the hype.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85039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No spam  ·  Unsubscribe anytime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ANTIAGING LABS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06440" y="9418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Mitochondrial Aging — Antiaging Labs Field Notes</dc:title>
  <dc:subject>PptxGenJS Presentation</dc:subject>
  <dc:creator>Antiaging Labs</dc:creator>
  <cp:lastModifiedBy>Antiaging Labs</cp:lastModifiedBy>
  <cp:revision>1</cp:revision>
  <dcterms:created xsi:type="dcterms:W3CDTF">2026-06-08T07:15:38Z</dcterms:created>
  <dcterms:modified xsi:type="dcterms:W3CDTF">2026-06-08T07:15:38Z</dcterms:modified>
</cp:coreProperties>
</file>